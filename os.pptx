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  <p:embeddedFont>
      <p:font typeface="Agrandir" charset="1" panose="00000500000000000000"/>
      <p:regular r:id="rId18"/>
    </p:embeddedFont>
    <p:embeddedFont>
      <p:font typeface="Montserrat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2135" y="2337613"/>
            <a:ext cx="6031608" cy="60316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14845" y="1188931"/>
            <a:ext cx="1991544" cy="19915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43659" y="4214522"/>
            <a:ext cx="3185721" cy="318572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190968" y="2383625"/>
            <a:ext cx="12731848" cy="245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6"/>
              </a:lnSpc>
            </a:pPr>
            <a:r>
              <a:rPr lang="en-US" b="true" sz="1138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Clock Synchronization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163679" y="7797695"/>
            <a:ext cx="884434" cy="8844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44482" y="1504605"/>
            <a:ext cx="1892038" cy="189203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344946" y="6400189"/>
            <a:ext cx="884434" cy="8844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7067" y="3608432"/>
            <a:ext cx="3070135" cy="307013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055315" y="5017538"/>
            <a:ext cx="12177370" cy="274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1"/>
              </a:lnSpc>
            </a:pPr>
            <a:r>
              <a:rPr lang="en-US" sz="1138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 Distributed Systems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498" y="2016665"/>
            <a:ext cx="14152523" cy="6891819"/>
            <a:chOff x="0" y="0"/>
            <a:chExt cx="3727414" cy="1815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14" cy="1815129"/>
            </a:xfrm>
            <a:custGeom>
              <a:avLst/>
              <a:gdLst/>
              <a:ahLst/>
              <a:cxnLst/>
              <a:rect r="r" b="b" t="t" l="l"/>
              <a:pathLst>
                <a:path h="1815129" w="3727414">
                  <a:moveTo>
                    <a:pt x="0" y="0"/>
                  </a:moveTo>
                  <a:lnTo>
                    <a:pt x="3727414" y="0"/>
                  </a:lnTo>
                  <a:lnTo>
                    <a:pt x="3727414" y="1815129"/>
                  </a:lnTo>
                  <a:lnTo>
                    <a:pt x="0" y="1815129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27414" cy="1853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78562" y="1456894"/>
            <a:ext cx="6573048" cy="7451590"/>
            <a:chOff x="0" y="0"/>
            <a:chExt cx="1018337" cy="11544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8337" cy="1154446"/>
            </a:xfrm>
            <a:custGeom>
              <a:avLst/>
              <a:gdLst/>
              <a:ahLst/>
              <a:cxnLst/>
              <a:rect r="r" b="b" t="t" l="l"/>
              <a:pathLst>
                <a:path h="1154446" w="1018337">
                  <a:moveTo>
                    <a:pt x="0" y="0"/>
                  </a:moveTo>
                  <a:lnTo>
                    <a:pt x="1018337" y="0"/>
                  </a:lnTo>
                  <a:lnTo>
                    <a:pt x="1018337" y="1154446"/>
                  </a:lnTo>
                  <a:lnTo>
                    <a:pt x="0" y="1154446"/>
                  </a:lnTo>
                  <a:close/>
                </a:path>
              </a:pathLst>
            </a:custGeom>
            <a:blipFill>
              <a:blip r:embed="rId2"/>
              <a:stretch>
                <a:fillRect l="-6682" t="0" r="-668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66501" y="6709979"/>
            <a:ext cx="6573048" cy="2241939"/>
            <a:chOff x="0" y="0"/>
            <a:chExt cx="1731173" cy="5904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31173" cy="590470"/>
            </a:xfrm>
            <a:custGeom>
              <a:avLst/>
              <a:gdLst/>
              <a:ahLst/>
              <a:cxnLst/>
              <a:rect r="r" b="b" t="t" l="l"/>
              <a:pathLst>
                <a:path h="590470" w="1731173">
                  <a:moveTo>
                    <a:pt x="0" y="0"/>
                  </a:moveTo>
                  <a:lnTo>
                    <a:pt x="1731173" y="0"/>
                  </a:lnTo>
                  <a:lnTo>
                    <a:pt x="1731173" y="590470"/>
                  </a:lnTo>
                  <a:lnTo>
                    <a:pt x="0" y="590470"/>
                  </a:lnTo>
                  <a:close/>
                </a:path>
              </a:pathLst>
            </a:custGeom>
            <a:gradFill rotWithShape="true">
              <a:gsLst>
                <a:gs pos="0">
                  <a:srgbClr val="F7ACFF">
                    <a:alpha val="0"/>
                  </a:srgbClr>
                </a:gs>
                <a:gs pos="100000">
                  <a:srgbClr val="3C67B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731173" cy="62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758233" y="670361"/>
            <a:ext cx="1892038" cy="189203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7830949"/>
            <a:ext cx="2155070" cy="215507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0540" y="1693375"/>
            <a:ext cx="1256320" cy="125632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39549" y="576700"/>
            <a:ext cx="1256320" cy="125632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90238" y="2451047"/>
            <a:ext cx="5886282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6500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91385" y="3316564"/>
            <a:ext cx="9742157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65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Distributed System?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8704" y="4384035"/>
            <a:ext cx="9657534" cy="419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245" indent="-316622" lvl="1">
              <a:lnSpc>
                <a:spcPts val="3343"/>
              </a:lnSpc>
              <a:buFont typeface="Arial"/>
              <a:buChar char="•"/>
            </a:pPr>
            <a:r>
              <a:rPr lang="en-US" sz="29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A distributed system is a collection of independent computers connected via a network.</a:t>
            </a:r>
          </a:p>
          <a:p>
            <a:pPr algn="l" marL="633245" indent="-316622" lvl="1">
              <a:lnSpc>
                <a:spcPts val="3343"/>
              </a:lnSpc>
              <a:buFont typeface="Arial"/>
              <a:buChar char="•"/>
            </a:pPr>
            <a:r>
              <a:rPr lang="en-US" sz="29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These systems communicate and coordinate through message passing.</a:t>
            </a:r>
          </a:p>
          <a:p>
            <a:pPr algn="l" marL="633245" indent="-316622" lvl="1">
              <a:lnSpc>
                <a:spcPts val="3343"/>
              </a:lnSpc>
              <a:buFont typeface="Arial"/>
              <a:buChar char="•"/>
            </a:pPr>
            <a:r>
              <a:rPr lang="en-US" sz="29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Each node can share resources like data, hardware, and software.</a:t>
            </a:r>
          </a:p>
          <a:p>
            <a:pPr algn="l" marL="633245" indent="-316622" lvl="1">
              <a:lnSpc>
                <a:spcPts val="3343"/>
              </a:lnSpc>
              <a:buFont typeface="Arial"/>
              <a:buChar char="•"/>
            </a:pPr>
            <a:r>
              <a:rPr lang="en-US" b="true" sz="293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Challenge:</a:t>
            </a:r>
            <a:r>
              <a:rPr lang="en-US" sz="29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How to maintain consistency and order without a shared clock?</a:t>
            </a:r>
          </a:p>
          <a:p>
            <a:pPr algn="l">
              <a:lnSpc>
                <a:spcPts val="334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75947" y="-496215"/>
            <a:ext cx="11264060" cy="11375654"/>
            <a:chOff x="0" y="0"/>
            <a:chExt cx="2966666" cy="29960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6666" cy="2996057"/>
            </a:xfrm>
            <a:custGeom>
              <a:avLst/>
              <a:gdLst/>
              <a:ahLst/>
              <a:cxnLst/>
              <a:rect r="r" b="b" t="t" l="l"/>
              <a:pathLst>
                <a:path h="2996057" w="2966666">
                  <a:moveTo>
                    <a:pt x="0" y="0"/>
                  </a:moveTo>
                  <a:lnTo>
                    <a:pt x="2966666" y="0"/>
                  </a:lnTo>
                  <a:lnTo>
                    <a:pt x="2966666" y="2996057"/>
                  </a:lnTo>
                  <a:lnTo>
                    <a:pt x="0" y="2996057"/>
                  </a:lnTo>
                  <a:close/>
                </a:path>
              </a:pathLst>
            </a:custGeom>
            <a:gradFill rotWithShape="true">
              <a:gsLst>
                <a:gs pos="0">
                  <a:srgbClr val="F7ACFF">
                    <a:alpha val="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3C67BF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66666" cy="3034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54546" y="-1328013"/>
            <a:ext cx="5214383" cy="521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403588" y="1500125"/>
            <a:ext cx="6136420" cy="6136420"/>
            <a:chOff x="0" y="0"/>
            <a:chExt cx="14840029" cy="148400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100000"/>
                  </a:srgbClr>
                </a:gs>
                <a:gs pos="100000">
                  <a:srgbClr val="8875D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2"/>
              <a:stretch>
                <a:fillRect l="-15701" t="-8966" r="-14055" b="-1189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3958" y="1623950"/>
            <a:ext cx="10034025" cy="178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70"/>
              </a:lnSpc>
            </a:pPr>
            <a:r>
              <a:rPr lang="en-US" b="true" sz="683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Synchronization is Needed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1218960" y="5327268"/>
            <a:ext cx="4252838" cy="4252838"/>
            <a:chOff x="0" y="0"/>
            <a:chExt cx="14840029" cy="148400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100000"/>
                  </a:srgbClr>
                </a:gs>
                <a:gs pos="100000">
                  <a:srgbClr val="F7AC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223" t="0" r="223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908020" y="7636544"/>
            <a:ext cx="4721330" cy="472133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16682" y="4047916"/>
            <a:ext cx="10845350" cy="576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3355" indent="-396677" lvl="1">
              <a:lnSpc>
                <a:spcPts val="4189"/>
              </a:lnSpc>
              <a:buFont typeface="Arial"/>
              <a:buChar char="•"/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 distributed systems, each node has its own local clock.</a:t>
            </a:r>
          </a:p>
          <a:p>
            <a:pPr algn="l" marL="793355" indent="-396677" lvl="1">
              <a:lnSpc>
                <a:spcPts val="4189"/>
              </a:lnSpc>
              <a:buFont typeface="Arial"/>
              <a:buChar char="•"/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Clocks can drift over time due to hardware differences</a:t>
            </a:r>
          </a:p>
          <a:p>
            <a:pPr algn="l">
              <a:lnSpc>
                <a:spcPts val="4189"/>
              </a:lnSpc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793355" indent="-396677" lvl="1">
              <a:lnSpc>
                <a:spcPts val="4189"/>
              </a:lnSpc>
              <a:buFont typeface="Arial"/>
              <a:buChar char="•"/>
            </a:pPr>
            <a:r>
              <a:rPr lang="en-US" b="true" sz="3674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Without synchronization:</a:t>
            </a:r>
          </a:p>
          <a:p>
            <a:pPr algn="l" marL="1586710" indent="-528903" lvl="2">
              <a:lnSpc>
                <a:spcPts val="4189"/>
              </a:lnSpc>
              <a:buFont typeface="Arial"/>
              <a:buChar char="⚬"/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Inconsistent timestamps</a:t>
            </a:r>
          </a:p>
          <a:p>
            <a:pPr algn="l" marL="1586710" indent="-528903" lvl="2">
              <a:lnSpc>
                <a:spcPts val="4189"/>
              </a:lnSpc>
              <a:buFont typeface="Arial"/>
              <a:buChar char="⚬"/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Incorrect event ordering</a:t>
            </a:r>
          </a:p>
          <a:p>
            <a:pPr algn="l" marL="1586710" indent="-528903" lvl="2">
              <a:lnSpc>
                <a:spcPts val="4189"/>
              </a:lnSpc>
              <a:buFont typeface="Arial"/>
              <a:buChar char="⚬"/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Resource conflicts</a:t>
            </a:r>
          </a:p>
          <a:p>
            <a:pPr algn="l" marL="1586710" indent="-528903" lvl="2">
              <a:lnSpc>
                <a:spcPts val="4189"/>
              </a:lnSpc>
              <a:buFont typeface="Arial"/>
              <a:buChar char="⚬"/>
            </a:pPr>
            <a:r>
              <a:rPr lang="en-US" sz="367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System failures in coordination</a:t>
            </a:r>
          </a:p>
          <a:p>
            <a:pPr algn="l">
              <a:lnSpc>
                <a:spcPts val="4189"/>
              </a:lnSpc>
            </a:pP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059737" y="3498168"/>
            <a:ext cx="5889768" cy="772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3"/>
              </a:lnSpc>
            </a:pPr>
            <a:r>
              <a:rPr lang="en-US" sz="47062">
                <a:gradFill>
                  <a:gsLst>
                    <a:gs pos="0">
                      <a:srgbClr val="3C67BF">
                        <a:alpha val="100000"/>
                      </a:srgbClr>
                    </a:gs>
                    <a:gs pos="100000">
                      <a:srgbClr val="F7ACFF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2325" y="2246485"/>
            <a:ext cx="19795102" cy="6320087"/>
            <a:chOff x="0" y="0"/>
            <a:chExt cx="5213525" cy="1664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3525" cy="1664550"/>
            </a:xfrm>
            <a:custGeom>
              <a:avLst/>
              <a:gdLst/>
              <a:ahLst/>
              <a:cxnLst/>
              <a:rect r="r" b="b" t="t" l="l"/>
              <a:pathLst>
                <a:path h="1664550" w="5213525">
                  <a:moveTo>
                    <a:pt x="0" y="0"/>
                  </a:moveTo>
                  <a:lnTo>
                    <a:pt x="5213525" y="0"/>
                  </a:lnTo>
                  <a:lnTo>
                    <a:pt x="5213525" y="1664550"/>
                  </a:lnTo>
                  <a:lnTo>
                    <a:pt x="0" y="1664550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13525" cy="1702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7420" y="2688210"/>
            <a:ext cx="17568356" cy="5437174"/>
            <a:chOff x="0" y="0"/>
            <a:chExt cx="4627057" cy="1432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27057" cy="1432013"/>
            </a:xfrm>
            <a:custGeom>
              <a:avLst/>
              <a:gdLst/>
              <a:ahLst/>
              <a:cxnLst/>
              <a:rect r="r" b="b" t="t" l="l"/>
              <a:pathLst>
                <a:path h="1432013" w="4627057">
                  <a:moveTo>
                    <a:pt x="0" y="0"/>
                  </a:moveTo>
                  <a:lnTo>
                    <a:pt x="4627057" y="0"/>
                  </a:lnTo>
                  <a:lnTo>
                    <a:pt x="4627057" y="1432013"/>
                  </a:lnTo>
                  <a:lnTo>
                    <a:pt x="0" y="14320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27057" cy="147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9989" y="2784994"/>
            <a:ext cx="1256320" cy="12563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2801064"/>
            <a:ext cx="1256320" cy="125632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74314" y="9473025"/>
            <a:ext cx="484986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0256" y="528869"/>
            <a:ext cx="7588917" cy="161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0"/>
              </a:lnSpc>
            </a:pPr>
            <a:r>
              <a:rPr lang="en-US" sz="626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Types of</a:t>
            </a:r>
            <a:r>
              <a:rPr lang="en-US" sz="626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Clock Synchronization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896" y="4948376"/>
            <a:ext cx="7483277" cy="183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sz="32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Uses an external reference clock (e.g., UTC).</a:t>
            </a:r>
          </a:p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sz="32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Nodes adjust their time to match this global reference.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4762" y="4326646"/>
            <a:ext cx="341317" cy="34131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31738" y="4352659"/>
            <a:ext cx="8346561" cy="39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3493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External Clock Synchronization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102279" y="-313682"/>
            <a:ext cx="3185721" cy="318572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403566" y="1871985"/>
            <a:ext cx="884434" cy="88443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851910" y="4948376"/>
            <a:ext cx="8107746" cy="274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sz="32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 external clock is used.</a:t>
            </a:r>
          </a:p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sz="32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Nodes synchronize with each other by exchanging time messages.</a:t>
            </a:r>
          </a:p>
          <a:p>
            <a:pPr algn="l" marL="690881" indent="-345440" lvl="1">
              <a:lnSpc>
                <a:spcPts val="3648"/>
              </a:lnSpc>
              <a:buFont typeface="Arial"/>
              <a:buChar char="•"/>
            </a:pPr>
            <a:r>
              <a:rPr lang="en-US" sz="32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All nodes adjust to an agreed average time.</a:t>
            </a:r>
          </a:p>
          <a:p>
            <a:pPr algn="l">
              <a:lnSpc>
                <a:spcPts val="3648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9586068" y="4425226"/>
            <a:ext cx="313467" cy="31346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180254" y="4459996"/>
            <a:ext cx="7665529" cy="35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sz="3208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Internal Clock Synchronization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3837" y="2687898"/>
            <a:ext cx="7705134" cy="6494656"/>
            <a:chOff x="0" y="0"/>
            <a:chExt cx="1193727" cy="1006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3727" cy="1006192"/>
            </a:xfrm>
            <a:custGeom>
              <a:avLst/>
              <a:gdLst/>
              <a:ahLst/>
              <a:cxnLst/>
              <a:rect r="r" b="b" t="t" l="l"/>
              <a:pathLst>
                <a:path h="1006192" w="1193727">
                  <a:moveTo>
                    <a:pt x="0" y="0"/>
                  </a:moveTo>
                  <a:lnTo>
                    <a:pt x="1193727" y="0"/>
                  </a:lnTo>
                  <a:lnTo>
                    <a:pt x="1193727" y="1006192"/>
                  </a:lnTo>
                  <a:lnTo>
                    <a:pt x="0" y="1006192"/>
                  </a:lnTo>
                  <a:close/>
                </a:path>
              </a:pathLst>
            </a:custGeom>
            <a:blipFill>
              <a:blip r:embed="rId2"/>
              <a:stretch>
                <a:fillRect l="-1115" t="0" r="-3972" b="-530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60486" y="958414"/>
            <a:ext cx="9832089" cy="315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2"/>
              </a:lnSpc>
            </a:pPr>
            <a:r>
              <a:rPr lang="en-US" sz="8101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Centralized Clock Synchronization</a:t>
            </a:r>
          </a:p>
          <a:p>
            <a:pPr algn="l">
              <a:lnSpc>
                <a:spcPts val="8182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68629" y="-318954"/>
            <a:ext cx="2249937" cy="22499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128905" y="1279178"/>
            <a:ext cx="1256320" cy="125632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74314" y="9473025"/>
            <a:ext cx="354591" cy="241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6161" y="3877421"/>
            <a:ext cx="10146414" cy="545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907" indent="-369454" lvl="1">
              <a:lnSpc>
                <a:spcPts val="3901"/>
              </a:lnSpc>
              <a:buFont typeface="Arial"/>
              <a:buChar char="•"/>
            </a:pP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Uses a single time server as the reference.</a:t>
            </a:r>
          </a:p>
          <a:p>
            <a:pPr algn="l" marL="738907" indent="-369454" lvl="1">
              <a:lnSpc>
                <a:spcPts val="3901"/>
              </a:lnSpc>
              <a:buFont typeface="Arial"/>
              <a:buChar char="•"/>
            </a:pP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All other nodes request time from this server.</a:t>
            </a:r>
          </a:p>
          <a:p>
            <a:pPr algn="l" marL="738907" indent="-369454" lvl="1">
              <a:lnSpc>
                <a:spcPts val="3901"/>
              </a:lnSpc>
              <a:buFont typeface="Arial"/>
              <a:buChar char="•"/>
            </a:pPr>
            <a:r>
              <a:rPr lang="en-US" b="true" sz="342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Examples:</a:t>
            </a:r>
          </a:p>
          <a:p>
            <a:pPr algn="l" marL="1477815" indent="-492605" lvl="2">
              <a:lnSpc>
                <a:spcPts val="3901"/>
              </a:lnSpc>
              <a:buFont typeface="Arial"/>
              <a:buChar char="⚬"/>
            </a:pP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Berkeley Algorithm</a:t>
            </a:r>
          </a:p>
          <a:p>
            <a:pPr algn="l" marL="1477815" indent="-492605" lvl="2">
              <a:lnSpc>
                <a:spcPts val="3901"/>
              </a:lnSpc>
              <a:buFont typeface="Arial"/>
              <a:buChar char="⚬"/>
            </a:pP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Active/Passive Time Server</a:t>
            </a:r>
          </a:p>
          <a:p>
            <a:pPr algn="l" marL="738907" indent="-369454" lvl="1">
              <a:lnSpc>
                <a:spcPts val="3901"/>
              </a:lnSpc>
              <a:buFont typeface="Arial"/>
              <a:buChar char="•"/>
            </a:pPr>
            <a:r>
              <a:rPr lang="en-US" b="true" sz="342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Advantage:</a:t>
            </a:r>
          </a:p>
          <a:p>
            <a:pPr algn="l">
              <a:lnSpc>
                <a:spcPts val="3901"/>
              </a:lnSpc>
            </a:pPr>
            <a:r>
              <a:rPr lang="en-US" sz="34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</a:t>
            </a: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Simple to implement.</a:t>
            </a:r>
          </a:p>
          <a:p>
            <a:pPr algn="l" marL="738907" indent="-369454" lvl="1">
              <a:lnSpc>
                <a:spcPts val="3901"/>
              </a:lnSpc>
              <a:buFont typeface="Arial"/>
              <a:buChar char="•"/>
            </a:pPr>
            <a:r>
              <a:rPr lang="en-US" b="true" sz="3422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Disadvantage:</a:t>
            </a: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901"/>
              </a:lnSpc>
            </a:pP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            </a:t>
            </a:r>
            <a:r>
              <a:rPr lang="en-US" sz="34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Single point of failure, not scalable</a:t>
            </a:r>
          </a:p>
          <a:p>
            <a:pPr algn="l">
              <a:lnSpc>
                <a:spcPts val="390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9498" y="2101839"/>
            <a:ext cx="14152523" cy="8456924"/>
            <a:chOff x="0" y="0"/>
            <a:chExt cx="3727414" cy="2227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7414" cy="2227338"/>
            </a:xfrm>
            <a:custGeom>
              <a:avLst/>
              <a:gdLst/>
              <a:ahLst/>
              <a:cxnLst/>
              <a:rect r="r" b="b" t="t" l="l"/>
              <a:pathLst>
                <a:path h="2227338" w="3727414">
                  <a:moveTo>
                    <a:pt x="0" y="0"/>
                  </a:moveTo>
                  <a:lnTo>
                    <a:pt x="3727414" y="0"/>
                  </a:lnTo>
                  <a:lnTo>
                    <a:pt x="3727414" y="2227338"/>
                  </a:lnTo>
                  <a:lnTo>
                    <a:pt x="0" y="2227338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27414" cy="2265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74314" y="2306583"/>
            <a:ext cx="1892038" cy="18920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540" y="1693375"/>
            <a:ext cx="1256320" cy="12563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561014" y="3924877"/>
            <a:ext cx="6485196" cy="4810848"/>
            <a:chOff x="0" y="0"/>
            <a:chExt cx="1741161" cy="12916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1161" cy="1291628"/>
            </a:xfrm>
            <a:custGeom>
              <a:avLst/>
              <a:gdLst/>
              <a:ahLst/>
              <a:cxnLst/>
              <a:rect r="r" b="b" t="t" l="l"/>
              <a:pathLst>
                <a:path h="1291628" w="1741161">
                  <a:moveTo>
                    <a:pt x="0" y="0"/>
                  </a:moveTo>
                  <a:lnTo>
                    <a:pt x="1741161" y="0"/>
                  </a:lnTo>
                  <a:lnTo>
                    <a:pt x="1741161" y="1291628"/>
                  </a:lnTo>
                  <a:lnTo>
                    <a:pt x="0" y="1291628"/>
                  </a:lnTo>
                  <a:close/>
                </a:path>
              </a:pathLst>
            </a:custGeom>
            <a:blipFill>
              <a:blip r:embed="rId4"/>
              <a:stretch>
                <a:fillRect l="-5217" t="-39085" r="-6333" b="-1128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26418" y="4249107"/>
            <a:ext cx="10834596" cy="419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998" indent="-316999" lvl="1">
              <a:lnSpc>
                <a:spcPts val="3347"/>
              </a:lnSpc>
              <a:buFont typeface="Arial"/>
              <a:buChar char="•"/>
            </a:pP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 central server; all nodes cooperate.</a:t>
            </a:r>
          </a:p>
          <a:p>
            <a:pPr algn="l" marL="633998" indent="-316999" lvl="1">
              <a:lnSpc>
                <a:spcPts val="3347"/>
              </a:lnSpc>
              <a:buFont typeface="Arial"/>
              <a:buChar char="•"/>
            </a:pP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Each node exchanges time with others and computes an average.</a:t>
            </a:r>
          </a:p>
          <a:p>
            <a:pPr algn="l" marL="633998" indent="-316999" lvl="1">
              <a:lnSpc>
                <a:spcPts val="3347"/>
              </a:lnSpc>
              <a:buFont typeface="Arial"/>
              <a:buChar char="•"/>
            </a:pPr>
            <a:r>
              <a:rPr lang="en-US" b="true" sz="293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Examples</a:t>
            </a: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 marL="1267996" indent="-422665" lvl="2">
              <a:lnSpc>
                <a:spcPts val="3347"/>
              </a:lnSpc>
              <a:buFont typeface="Arial"/>
              <a:buChar char="⚬"/>
            </a:pP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Network Time Protocol (NTP)</a:t>
            </a:r>
          </a:p>
          <a:p>
            <a:pPr algn="l" marL="1267996" indent="-422665" lvl="2">
              <a:lnSpc>
                <a:spcPts val="3347"/>
              </a:lnSpc>
              <a:buFont typeface="Arial"/>
              <a:buChar char="⚬"/>
            </a:pP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Global Averaging Algorithm</a:t>
            </a:r>
          </a:p>
          <a:p>
            <a:pPr algn="l" marL="1267996" indent="-422665" lvl="2">
              <a:lnSpc>
                <a:spcPts val="3347"/>
              </a:lnSpc>
              <a:buFont typeface="Arial"/>
              <a:buChar char="⚬"/>
            </a:pP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Localized Averaging Algorithm</a:t>
            </a:r>
          </a:p>
          <a:p>
            <a:pPr algn="l" marL="633998" indent="-316999" lvl="1">
              <a:lnSpc>
                <a:spcPts val="3347"/>
              </a:lnSpc>
              <a:buFont typeface="Arial"/>
              <a:buChar char="•"/>
            </a:pPr>
            <a:r>
              <a:rPr lang="en-US" b="true" sz="293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</a:t>
            </a:r>
            <a:r>
              <a:rPr lang="en-US" sz="293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: Fault-tolerant, scalable, no single point of failure.</a:t>
            </a:r>
          </a:p>
          <a:p>
            <a:pPr algn="l">
              <a:lnSpc>
                <a:spcPts val="334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2472823"/>
            <a:ext cx="9555843" cy="145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b="true" sz="683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Distributed Clock Synchronization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23420" y="5741165"/>
            <a:ext cx="7406570" cy="74065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67104" y="-2512338"/>
            <a:ext cx="5214383" cy="52143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17229" y="929795"/>
            <a:ext cx="12655551" cy="2478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650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Time Protocol (NTP)</a:t>
            </a:r>
          </a:p>
          <a:p>
            <a:pPr algn="l">
              <a:lnSpc>
                <a:spcPts val="6440"/>
              </a:lnSpc>
            </a:pPr>
            <a:r>
              <a:rPr lang="en-US" sz="6505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Detail</a:t>
            </a:r>
          </a:p>
          <a:p>
            <a:pPr algn="l">
              <a:lnSpc>
                <a:spcPts val="64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14160" y="3056619"/>
            <a:ext cx="11461790" cy="4824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3411" indent="-406705" lvl="1">
              <a:lnSpc>
                <a:spcPts val="4294"/>
              </a:lnSpc>
              <a:buFont typeface="Arial"/>
              <a:buChar char="•"/>
            </a:pPr>
            <a:r>
              <a:rPr lang="en-US" sz="3767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Most widely used distributed time protocol.</a:t>
            </a:r>
          </a:p>
          <a:p>
            <a:pPr algn="l" marL="813411" indent="-406705" lvl="1">
              <a:lnSpc>
                <a:spcPts val="4294"/>
              </a:lnSpc>
              <a:buFont typeface="Arial"/>
              <a:buChar char="•"/>
            </a:pPr>
            <a:r>
              <a:rPr lang="en-US" sz="3767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Uses a hierarchy of servers (stratum levels).</a:t>
            </a:r>
          </a:p>
          <a:p>
            <a:pPr algn="l" marL="813411" indent="-406705" lvl="1">
              <a:lnSpc>
                <a:spcPts val="4294"/>
              </a:lnSpc>
              <a:buFont typeface="Arial"/>
              <a:buChar char="•"/>
            </a:pPr>
            <a:r>
              <a:rPr lang="en-US" sz="3767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Stratum 0 = atomic clock, Stratum 1 = primary servers, etc.</a:t>
            </a:r>
          </a:p>
          <a:p>
            <a:pPr algn="l" marL="813411" indent="-406705" lvl="1">
              <a:lnSpc>
                <a:spcPts val="4294"/>
              </a:lnSpc>
              <a:buFont typeface="Arial"/>
              <a:buChar char="•"/>
            </a:pPr>
            <a:r>
              <a:rPr lang="en-US" sz="3767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Designed to handle network delays and packet loss.</a:t>
            </a:r>
          </a:p>
          <a:p>
            <a:pPr algn="l" marL="813411" indent="-406705" lvl="1">
              <a:lnSpc>
                <a:spcPts val="4294"/>
              </a:lnSpc>
              <a:buFont typeface="Arial"/>
              <a:buChar char="•"/>
            </a:pPr>
            <a:r>
              <a:rPr lang="en-US" sz="3767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Provides accuracy within milliseconds over the internet.</a:t>
            </a:r>
          </a:p>
          <a:p>
            <a:pPr algn="l">
              <a:lnSpc>
                <a:spcPts val="429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1874166" y="2408016"/>
            <a:ext cx="6352877" cy="5470969"/>
            <a:chOff x="0" y="0"/>
            <a:chExt cx="2142703" cy="18452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2703" cy="1845252"/>
            </a:xfrm>
            <a:custGeom>
              <a:avLst/>
              <a:gdLst/>
              <a:ahLst/>
              <a:cxnLst/>
              <a:rect r="r" b="b" t="t" l="l"/>
              <a:pathLst>
                <a:path h="1845252" w="2142703">
                  <a:moveTo>
                    <a:pt x="0" y="0"/>
                  </a:moveTo>
                  <a:lnTo>
                    <a:pt x="2142703" y="0"/>
                  </a:lnTo>
                  <a:lnTo>
                    <a:pt x="2142703" y="1845252"/>
                  </a:lnTo>
                  <a:lnTo>
                    <a:pt x="0" y="1845252"/>
                  </a:lnTo>
                  <a:close/>
                </a:path>
              </a:pathLst>
            </a:custGeom>
            <a:blipFill>
              <a:blip r:embed="rId2"/>
              <a:stretch>
                <a:fillRect l="0" t="-1905" r="0" b="-19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12291" y="134340"/>
            <a:ext cx="1343260" cy="13432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74314" y="9473025"/>
            <a:ext cx="484986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2917" y="1710815"/>
            <a:ext cx="19526368" cy="2240807"/>
            <a:chOff x="0" y="0"/>
            <a:chExt cx="5142747" cy="5901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49938" y="875473"/>
            <a:ext cx="490149" cy="403705"/>
          </a:xfrm>
          <a:custGeom>
            <a:avLst/>
            <a:gdLst/>
            <a:ahLst/>
            <a:cxnLst/>
            <a:rect r="r" b="b" t="t" l="l"/>
            <a:pathLst>
              <a:path h="403705" w="490149">
                <a:moveTo>
                  <a:pt x="0" y="0"/>
                </a:moveTo>
                <a:lnTo>
                  <a:pt x="490149" y="0"/>
                </a:lnTo>
                <a:lnTo>
                  <a:pt x="490149" y="403705"/>
                </a:lnTo>
                <a:lnTo>
                  <a:pt x="0" y="403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96708" y="844897"/>
            <a:ext cx="1194260" cy="47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6891" y="2891771"/>
            <a:ext cx="11922822" cy="76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b="true" sz="6833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Clock Synchronization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650" y="1972648"/>
            <a:ext cx="8528420" cy="76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Challenges in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135218" y="9166597"/>
            <a:ext cx="19526368" cy="2240807"/>
            <a:chOff x="0" y="0"/>
            <a:chExt cx="5142747" cy="590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650032" y="-529992"/>
            <a:ext cx="19526368" cy="2240807"/>
            <a:chOff x="0" y="0"/>
            <a:chExt cx="5142747" cy="5901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2747" cy="590171"/>
            </a:xfrm>
            <a:custGeom>
              <a:avLst/>
              <a:gdLst/>
              <a:ahLst/>
              <a:cxnLst/>
              <a:rect r="r" b="b" t="t" l="l"/>
              <a:pathLst>
                <a:path h="590171" w="5142747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36329" y="4380246"/>
            <a:ext cx="4981763" cy="3996239"/>
            <a:chOff x="0" y="0"/>
            <a:chExt cx="1312069" cy="10525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2069" cy="1052507"/>
            </a:xfrm>
            <a:custGeom>
              <a:avLst/>
              <a:gdLst/>
              <a:ahLst/>
              <a:cxnLst/>
              <a:rect r="r" b="b" t="t" l="l"/>
              <a:pathLst>
                <a:path h="1052507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11969846" y="4380246"/>
            <a:ext cx="4981763" cy="3996239"/>
            <a:chOff x="0" y="0"/>
            <a:chExt cx="1312069" cy="10525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2069" cy="1052507"/>
            </a:xfrm>
            <a:custGeom>
              <a:avLst/>
              <a:gdLst/>
              <a:ahLst/>
              <a:cxnLst/>
              <a:rect r="r" b="b" t="t" l="l"/>
              <a:pathLst>
                <a:path h="1052507" w="1312069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595013" y="4666285"/>
            <a:ext cx="14714550" cy="371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368" indent="-403184" lvl="1">
              <a:lnSpc>
                <a:spcPts val="4257"/>
              </a:lnSpc>
              <a:buFont typeface="Arial"/>
              <a:buChar char="•"/>
            </a:pPr>
            <a:r>
              <a:rPr lang="en-US" sz="373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Network Delays: Variable latency affects time accuracy.</a:t>
            </a:r>
          </a:p>
          <a:p>
            <a:pPr algn="l" marL="806368" indent="-403184" lvl="1">
              <a:lnSpc>
                <a:spcPts val="4257"/>
              </a:lnSpc>
              <a:buFont typeface="Arial"/>
              <a:buChar char="•"/>
            </a:pPr>
            <a:r>
              <a:rPr lang="en-US" sz="373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Clock Drift: Physical clocks run at slightly different speeds.</a:t>
            </a:r>
          </a:p>
          <a:p>
            <a:pPr algn="l" marL="806368" indent="-403184" lvl="1">
              <a:lnSpc>
                <a:spcPts val="4257"/>
              </a:lnSpc>
              <a:buFont typeface="Arial"/>
              <a:buChar char="•"/>
            </a:pPr>
            <a:r>
              <a:rPr lang="en-US" sz="373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Fault Tolerance: Handling node failures during sync.</a:t>
            </a:r>
          </a:p>
          <a:p>
            <a:pPr algn="l" marL="806368" indent="-403184" lvl="1">
              <a:lnSpc>
                <a:spcPts val="4257"/>
              </a:lnSpc>
              <a:buFont typeface="Arial"/>
              <a:buChar char="•"/>
            </a:pPr>
            <a:r>
              <a:rPr lang="en-US" sz="373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Security: Preventing malicious time attacks (e.g., in blockchain).</a:t>
            </a:r>
          </a:p>
          <a:p>
            <a:pPr algn="l" marL="806368" indent="-403184" lvl="1">
              <a:lnSpc>
                <a:spcPts val="4257"/>
              </a:lnSpc>
              <a:buFont typeface="Arial"/>
              <a:buChar char="•"/>
            </a:pPr>
            <a:r>
              <a:rPr lang="en-US" sz="3734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Scalability: Maintaining sync in large, dynamic networks.</a:t>
            </a:r>
          </a:p>
          <a:p>
            <a:pPr algn="l">
              <a:lnSpc>
                <a:spcPts val="4257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82681" y="3005603"/>
            <a:ext cx="1892038" cy="189203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444450"/>
            <a:ext cx="415258" cy="415258"/>
          </a:xfrm>
          <a:custGeom>
            <a:avLst/>
            <a:gdLst/>
            <a:ahLst/>
            <a:cxnLst/>
            <a:rect r="r" b="b" t="t" l="l"/>
            <a:pathLst>
              <a:path h="415258" w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6831" y="2303914"/>
            <a:ext cx="2414254" cy="241425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933463"/>
            <a:ext cx="6479643" cy="244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8"/>
              </a:lnSpc>
            </a:pPr>
            <a:r>
              <a:rPr lang="en-US" sz="7748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Real-World</a:t>
            </a:r>
          </a:p>
          <a:p>
            <a:pPr algn="l">
              <a:lnSpc>
                <a:spcPts val="6198"/>
              </a:lnSpc>
            </a:pPr>
            <a:r>
              <a:rPr lang="en-US" sz="7748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Applications</a:t>
            </a:r>
          </a:p>
          <a:p>
            <a:pPr algn="l">
              <a:lnSpc>
                <a:spcPts val="619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9990" y="4959154"/>
            <a:ext cx="10298579" cy="3356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186" indent="-318093" lvl="1">
              <a:lnSpc>
                <a:spcPts val="3359"/>
              </a:lnSpc>
              <a:buFont typeface="Arial"/>
              <a:buChar char="•"/>
            </a:pPr>
            <a:r>
              <a:rPr lang="en-US" b="true" sz="294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Financial Systems:</a:t>
            </a:r>
            <a:r>
              <a:rPr lang="en-US" sz="294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Timestamping transactions.</a:t>
            </a:r>
          </a:p>
          <a:p>
            <a:pPr algn="l" marL="636186" indent="-318093" lvl="1">
              <a:lnSpc>
                <a:spcPts val="3359"/>
              </a:lnSpc>
              <a:buFont typeface="Arial"/>
              <a:buChar char="•"/>
            </a:pPr>
            <a:r>
              <a:rPr lang="en-US" b="true" sz="294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Cloud Computing:</a:t>
            </a:r>
            <a:r>
              <a:rPr lang="en-US" sz="294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Synchronizing distributed databases.</a:t>
            </a:r>
          </a:p>
          <a:p>
            <a:pPr algn="l" marL="636186" indent="-318093" lvl="1">
              <a:lnSpc>
                <a:spcPts val="3359"/>
              </a:lnSpc>
              <a:buFont typeface="Arial"/>
              <a:buChar char="•"/>
            </a:pPr>
            <a:r>
              <a:rPr lang="en-US" b="true" sz="294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Blockchain:</a:t>
            </a:r>
            <a:r>
              <a:rPr lang="en-US" sz="294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Consensus mechanisms rely on time sync.</a:t>
            </a:r>
          </a:p>
          <a:p>
            <a:pPr algn="l" marL="636186" indent="-318093" lvl="1">
              <a:lnSpc>
                <a:spcPts val="3359"/>
              </a:lnSpc>
              <a:buFont typeface="Arial"/>
              <a:buChar char="•"/>
            </a:pPr>
            <a:r>
              <a:rPr lang="en-US" b="true" sz="294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Telecommunications:</a:t>
            </a:r>
            <a:r>
              <a:rPr lang="en-US" sz="294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Call logging and billing.</a:t>
            </a:r>
          </a:p>
          <a:p>
            <a:pPr algn="l" marL="636186" indent="-318093" lvl="1">
              <a:lnSpc>
                <a:spcPts val="3359"/>
              </a:lnSpc>
              <a:buFont typeface="Arial"/>
              <a:buChar char="•"/>
            </a:pPr>
            <a:r>
              <a:rPr lang="en-US" b="true" sz="2946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IoT Networks:</a:t>
            </a:r>
            <a:r>
              <a:rPr lang="en-US" sz="2946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 Coordinating sensor data collection.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798368" y="2861128"/>
            <a:ext cx="6136420" cy="6136420"/>
            <a:chOff x="0" y="0"/>
            <a:chExt cx="14840029" cy="148400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B45B5">
                    <a:alpha val="100000"/>
                  </a:srgbClr>
                </a:gs>
                <a:gs pos="100000">
                  <a:srgbClr val="8875D7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8234" t="0" r="-2823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58570" y="7105510"/>
            <a:ext cx="1892038" cy="189203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57253" y="3906923"/>
            <a:ext cx="2155070" cy="215507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71962" y="1754383"/>
            <a:ext cx="3185721" cy="318572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74314" y="9473025"/>
            <a:ext cx="484986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DE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9840" y="2149955"/>
            <a:ext cx="2999351" cy="299935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33203" y="3316034"/>
            <a:ext cx="7055617" cy="154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b="true" sz="13535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89516" y="4760679"/>
            <a:ext cx="4990576" cy="154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13535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You.</a:t>
            </a:r>
          </a:p>
        </p:txBody>
      </p:sp>
      <p:grpSp>
        <p:nvGrpSpPr>
          <p:cNvPr name="Group 7" id="7"/>
          <p:cNvGrpSpPr/>
          <p:nvPr/>
        </p:nvGrpSpPr>
        <p:grpSpPr>
          <a:xfrm rot="-7357214">
            <a:off x="10690988" y="3451709"/>
            <a:ext cx="1931597" cy="193159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491235" y="7877610"/>
            <a:ext cx="19270471" cy="1068974"/>
            <a:chOff x="0" y="0"/>
            <a:chExt cx="5075350" cy="2815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75350" cy="281540"/>
            </a:xfrm>
            <a:custGeom>
              <a:avLst/>
              <a:gdLst/>
              <a:ahLst/>
              <a:cxnLst/>
              <a:rect r="r" b="b" t="t" l="l"/>
              <a:pathLst>
                <a:path h="281540" w="5075350">
                  <a:moveTo>
                    <a:pt x="0" y="0"/>
                  </a:moveTo>
                  <a:lnTo>
                    <a:pt x="5075350" y="0"/>
                  </a:lnTo>
                  <a:lnTo>
                    <a:pt x="5075350" y="281540"/>
                  </a:lnTo>
                  <a:lnTo>
                    <a:pt x="0" y="281540"/>
                  </a:lnTo>
                  <a:close/>
                </a:path>
              </a:pathLst>
            </a:custGeom>
            <a:gradFill rotWithShape="true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075350" cy="319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050268" y="9473025"/>
            <a:ext cx="724046" cy="242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true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74314" y="9473025"/>
            <a:ext cx="354591" cy="241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35255" y="8270809"/>
            <a:ext cx="4451512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3500" i="true">
                <a:solidFill>
                  <a:srgbClr val="24096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Sandeep Gaire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DAG8ECNRmlw</dc:identifier>
  <dcterms:modified xsi:type="dcterms:W3CDTF">2011-08-01T06:04:30Z</dcterms:modified>
  <cp:revision>1</cp:revision>
  <dc:title>os</dc:title>
</cp:coreProperties>
</file>